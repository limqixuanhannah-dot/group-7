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6" r:id="rId17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◆  PROJECT CLAW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CRISIS INFORMATION TRIAGE &amp; OPS-READINESS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 Claw for Defence &amp; Security</a:t>
            </a:r>
            <a:br/>
            <a:r>
              <a:t>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An AI-powered project management assistant that helps teams</a:t>
            </a:r>
            <a:br/>
            <a:r>
              <a:t>decide faster, act smarter, and stay operationally 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LIVE PROTOTYPE   |   DSTA-FOCUSED   |   SECURITY-GRADE   |   SINGAPORE-CENTRIC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Group 7  ·  Hannah (Principal Operator)  ·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  <a:latin typeface="Calibri"/>
              </a:defRPr>
            </a:pPr>
            <a:r>
              <a:t>CONFIDENTIAL — For DSTA Project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Information Overload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Large projects generate massive information flow — chat messages, task updates, pinned items, status changes, purchase requests. Teams and executive committees struggle to maintain situational awareness.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51560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i="1">
                <a:solidFill>
                  <a:srgbClr val="E0E6F0"/>
                </a:solidFill>
                <a:latin typeface="Calibri"/>
              </a:defRPr>
            </a:pPr>
            <a:r>
              <a:t>"How can we create an interactive project manager for members and executive committees of large projects that can make updates, new information, and tasks easier to overview?"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338328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0E6F0"/>
                </a:solidFill>
                <a:latin typeface="Calibri"/>
              </a:defRPr>
            </a:pPr>
            <a:r>
              <a:t>📊  Information Fragmentation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Updates spread across chat, email, spreadsheets, documents. No single pane of glass.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566160"/>
            <a:ext cx="338328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0E6F0"/>
                </a:solidFill>
                <a:latin typeface="Calibri"/>
              </a:defRPr>
            </a:pPr>
            <a:r>
              <a:t>⏱️  Decision Latency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Critical information gets buried. Teams waste time searching instead of acting.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566160"/>
            <a:ext cx="338328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0E6F0"/>
                </a:solidFill>
                <a:latin typeface="Calibri"/>
              </a:defRPr>
            </a:pPr>
            <a:r>
              <a:t>🔍  Priority Blindness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Urgent vs important gets blurred. No automated triage or escalation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Is The Claw?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An AI-powered ops assistant that ingests project chatter, triages information, tracks tasks, checks logistics, and surfaces what matters —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65176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E6F0"/>
                </a:solidFill>
                <a:latin typeface="Calibri"/>
              </a:defRPr>
            </a:pPr>
            <a:r>
              <a:t>✂️  Summarise &amp; Filter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Compress noisy information streams into clear, actionable briefs. Noise goes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560320"/>
            <a:ext cx="265176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E6F0"/>
                </a:solidFill>
                <a:latin typeface="Calibri"/>
              </a:defRPr>
            </a:pPr>
            <a:r>
              <a:t>🚩  Flag Priorities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Identify urgency, priority, and risk. CRITICAL — HIGH — MEDIUM — 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560320"/>
            <a:ext cx="265176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E6F0"/>
                </a:solidFill>
                <a:latin typeface="Calibri"/>
              </a:defRPr>
            </a:pPr>
            <a:r>
              <a:t>📋  Track Tasks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Operational awareness. PENDING — IN PROGRESS — COMPLETE — BLOCKED.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2560320"/>
            <a:ext cx="265176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E6F0"/>
                </a:solidFill>
                <a:latin typeface="Calibri"/>
              </a:defRPr>
            </a:pPr>
            <a:r>
              <a:t>✅  Ops Readiness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Checklists, drills, preparedness scoring, gap analysis. Know your status at all times.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029200"/>
            <a:ext cx="219456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5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Core Capability Domains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5029200"/>
            <a:ext cx="219456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24/7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Operational Availability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5029200"/>
            <a:ext cx="219456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4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Priority Tiers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59" y="5029200"/>
            <a:ext cx="219456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4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Task Status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Full SENTRY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Five integrated defence and security capabilities — all operational.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0E6F0"/>
                </a:solidFill>
                <a:latin typeface="Calibri"/>
              </a:defRPr>
            </a:pPr>
            <a:r>
              <a:t>🛡️  Cyber Hygiene &amp; Breach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Password audit, 2FA checks, account exposure scans. HIBP integration for real-time breach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219456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0E6F0"/>
                </a:solidFill>
                <a:latin typeface="Calibri"/>
              </a:defRPr>
            </a:pPr>
            <a:r>
              <a:t>🚨  Crisis Triage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Step-by-step incident playbooks, resource mapping, decision matrices. KNOW — DECIDE — 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194560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0E6F0"/>
                </a:solidFill>
                <a:latin typeface="Calibri"/>
              </a:defRPr>
            </a:pPr>
            <a:r>
              <a:t>🔎  Misinformation &amp; Fact Check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Cross-reference claims against Tier 1-4 sources. Source credibility scoring. Deepfake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79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0E6F0"/>
                </a:solidFill>
                <a:latin typeface="Calibri"/>
              </a:defRPr>
            </a:pPr>
            <a:r>
              <a:t>🌐  OSINT &amp; Geopolitical Analysis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Situation briefs, threat actor profiles, capability assessments. Tiered sourcing from official to open.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4297679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0E6F0"/>
                </a:solidFill>
                <a:latin typeface="Calibri"/>
              </a:defRPr>
            </a:pPr>
            <a:r>
              <a:t>⚡  Ops Readiness &amp; Task Tracking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Preparedness scoring, checklists. Priority-triage project management. Spreadsheet integration.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297679"/>
            <a:ext cx="34747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0E6F0"/>
                </a:solidFill>
                <a:latin typeface="Calibri"/>
              </a:defRPr>
            </a:pPr>
            <a:r>
              <a:t>🗂️  Spreadsheet &amp; Logistics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Reads/writes project spreadsheets. Tracks missing items, purchase status, inventory gaps.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PROJECT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Current Operational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Live status as of June 2026, UTC+8.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4747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E6F0"/>
                </a:solidFill>
                <a:latin typeface="Calibri"/>
              </a:defRPr>
            </a:pPr>
            <a:r>
              <a:t>✅  Dashboard</a:t>
            </a:r>
          </a:p>
          <a:p>
            <a:pPr>
              <a:defRPr sz="1100">
                <a:solidFill>
                  <a:srgbClr val="4ADE80"/>
                </a:solidFill>
                <a:latin typeface="Calibri"/>
              </a:defRPr>
            </a:pPr>
            <a:r>
              <a:t>Status: Operational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2103120"/>
            <a:ext cx="34747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E6F0"/>
                </a:solidFill>
                <a:latin typeface="Calibri"/>
              </a:defRPr>
            </a:pPr>
            <a:r>
              <a:t>✅  Heartbeat System</a:t>
            </a:r>
          </a:p>
          <a:p>
            <a:pPr>
              <a:defRPr sz="1100">
                <a:solidFill>
                  <a:srgbClr val="4ADE80"/>
                </a:solidFill>
                <a:latin typeface="Calibri"/>
              </a:defRPr>
            </a:pPr>
            <a:r>
              <a:t>Status: 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103120"/>
            <a:ext cx="34747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E6F0"/>
                </a:solidFill>
                <a:latin typeface="Calibri"/>
              </a:defRPr>
            </a:pPr>
            <a:r>
              <a:t>⚠️  Discord Token</a:t>
            </a:r>
          </a:p>
          <a:p>
            <a:pPr>
              <a:defRPr sz="1100">
                <a:solidFill>
                  <a:srgbClr val="FBBF24"/>
                </a:solidFill>
                <a:latin typeface="Calibri"/>
              </a:defRPr>
            </a:pPr>
            <a:r>
              <a:t>Status: Needs Renewal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39"/>
            <a:ext cx="34747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E6F0"/>
                </a:solidFill>
                <a:latin typeface="Calibri"/>
              </a:defRPr>
            </a:pPr>
            <a:r>
              <a:t>✅  SENTRY Framework</a:t>
            </a:r>
          </a:p>
          <a:p>
            <a:pPr>
              <a:defRPr sz="1100">
                <a:solidFill>
                  <a:srgbClr val="4ADE80"/>
                </a:solidFill>
                <a:latin typeface="Calibri"/>
              </a:defRPr>
            </a:pPr>
            <a:r>
              <a:t>Status: Deployed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3291839"/>
            <a:ext cx="34747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E6F0"/>
                </a:solidFill>
                <a:latin typeface="Calibri"/>
              </a:defRPr>
            </a:pPr>
            <a:r>
              <a:t>✅  Breach Monitoring</a:t>
            </a:r>
          </a:p>
          <a:p>
            <a:pPr>
              <a:defRPr sz="1100">
                <a:solidFill>
                  <a:srgbClr val="4ADE80"/>
                </a:solidFill>
                <a:latin typeface="Calibri"/>
              </a:defRPr>
            </a:pPr>
            <a:r>
              <a:t>Status: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291839"/>
            <a:ext cx="34747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E6F0"/>
                </a:solidFill>
                <a:latin typeface="Calibri"/>
              </a:defRPr>
            </a:pPr>
            <a:r>
              <a:t>⚠️  Excel Tracking</a:t>
            </a:r>
          </a:p>
          <a:p>
            <a:pPr>
              <a:defRPr sz="1100">
                <a:solidFill>
                  <a:srgbClr val="FBBF24"/>
                </a:solidFill>
                <a:latin typeface="Calibri"/>
              </a:defRPr>
            </a:pPr>
            <a:r>
              <a:t>Status: Needs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PRIORITY &amp; URGENCY — SORTED TO-DO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463040" cy="32004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4937760"/>
            <a:ext cx="5486400" cy="32004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937760"/>
            <a:ext cx="1463040" cy="32004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4937760"/>
            <a:ext cx="1463040" cy="32004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5257800"/>
            <a:ext cx="548640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Renew Discord bot token (401 Unauthorized)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5257800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PENDING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5257800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Hannah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05272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5605272"/>
            <a:ext cx="548640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Restore memory index (embedding mismatch)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5605272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PENDING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5605272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Hannah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952744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5952744"/>
            <a:ext cx="548640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Set up Excel/Sheets project tracking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5952744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5952744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Group 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6300216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0" y="6300216"/>
            <a:ext cx="548640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Confirm logistics purchases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6300216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PENDING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6300216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Hannah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647688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94560" y="6647688"/>
            <a:ext cx="548640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Create presentation deck (this deck ✓)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6647688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6647688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Group 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6995160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4560" y="6995160"/>
            <a:ext cx="548640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Compile DSTA-aligned use cases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6995160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6995160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Group 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7342632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94560" y="7342632"/>
            <a:ext cx="548640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Build web dashboard frontend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80960" y="7342632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PENDING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7342632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Deferred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7690104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94560" y="7690104"/>
            <a:ext cx="548640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Stale dashboard entry — cleanup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80960" y="7690104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PENDING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0" y="7690104"/>
            <a:ext cx="1463040" cy="34747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A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E0E6F0"/>
                </a:solidFill>
                <a:latin typeface="Calibri"/>
              </a:defRPr>
            </a:pPr>
            <a:r>
              <a:t>Housekeeping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INTELLIGENCE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Chat Summary &amp; Pinned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📌  PINNED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0E6F0"/>
                </a:solidFill>
                <a:latin typeface="Calibri"/>
              </a:defRPr>
            </a:pPr>
            <a:r>
              <a:t>📌 SUPER IMPORTANT — create a professional presentation on building a claw for defence/security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Hannah flagged this as top priority. Deck built and served.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5156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0E6F0"/>
                </a:solidFill>
                <a:latin typeface="Calibri"/>
              </a:defRPr>
            </a:pPr>
            <a:r>
              <a:t>📌 Link to excel spreadsheet to track missing items — Claw can update when prompted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Spreadsheet system needs linking. CSV template ready.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5156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0E6F0"/>
                </a:solidFill>
                <a:latin typeface="Calibri"/>
              </a:defRPr>
            </a:pPr>
            <a:r>
              <a:t>📌 Check logistics — check if you bought stuff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Logistics audit requested. Pending confirmation of orders vs deliveries.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📋  SESSION 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Create professional presentation on building a Claw for defence/security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338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Update on urgent project items &amp; sort to-do list by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899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Link spreadsheet to track missing items — Claw updates on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634593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Check logistics — what was ordered vs received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6019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Target audience: DSTA project people / executive committees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LOGISTICS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Purchase &amp; Inventory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No existing purchase records found. Below is the tracking system — The Claw can update when prompted with what was ordered, received, or is missing.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02920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0E6F0"/>
                </a:solidFill>
                <a:latin typeface="Calibri"/>
              </a:defRPr>
            </a:pPr>
            <a:r>
              <a:t>📊  Project Tracker Spreadsheet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File: project-claw-tracker.csv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Format: CSV (import to Excel / Google Sheets)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Auto-update: The Claw reads/writes on demand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Ready for data input — tell me what was ordered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377440"/>
            <a:ext cx="502920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0E6F0"/>
                </a:solidFill>
                <a:latin typeface="Calibri"/>
              </a:defRPr>
            </a:pPr>
            <a:r>
              <a:t>📦  Items to Track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No purchase data found yet.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Tell me what was ordered and I'll populate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the tracker. I can check status, flag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missing items, and alert on delivery gaps.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51560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E0E6F0"/>
                </a:solidFill>
                <a:latin typeface="Calibri"/>
              </a:defRPr>
            </a:pPr>
            <a:r>
              <a:t>To start tracking: tell me "I bought X from Y on Z date" or "Check if item A was delivered" and I'll update the spreadsheet. I can also scan for missing items automatically.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The Claw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1737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E6F0"/>
                </a:solidFill>
                <a:latin typeface="Calibri"/>
              </a:defRPr>
            </a:pPr>
            <a:r>
              <a:t>🧠  AI Core (OpenClaw)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DeepSeek V4 reasoning engine. Sub-agent orchestration. Memory system for session continuity. Tool-calling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11680"/>
            <a:ext cx="5303520" cy="1737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E6F0"/>
                </a:solidFill>
                <a:latin typeface="Calibri"/>
              </a:defRPr>
            </a:pPr>
            <a:r>
              <a:t>🔧  Tool Layer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File read/write for spreadsheets. Web search &amp; fetch for real-time intel. Cron scheduling. Sessions for parallel delegation.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303520" cy="1737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E6F0"/>
                </a:solidFill>
                <a:latin typeface="Calibri"/>
              </a:defRPr>
            </a:pPr>
            <a:r>
              <a:t>📡  Communication Layer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WebChat direct. Discord (pending token). Web dashboard. Multi-surface: direct, group, isolated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023360"/>
            <a:ext cx="5303520" cy="1737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0E6F0"/>
                </a:solidFill>
                <a:latin typeface="Calibri"/>
              </a:defRPr>
            </a:pPr>
            <a:r>
              <a:t>🗄️  Data Layer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File-based workspace storage. Daily memory + curated MEMORY.md. CSV tracking. SENTRY framework doctrine (project67.md).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201168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ADE80"/>
                </a:solidFill>
                <a:latin typeface="Calibri"/>
              </a:defRPr>
            </a:pPr>
            <a:r>
              <a:t>✓  Multi-Session</a:t>
            </a:r>
            <a:br/>
            <a:r>
              <a:t>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5669280"/>
            <a:ext cx="201168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ADE80"/>
                </a:solidFill>
                <a:latin typeface="Calibri"/>
              </a:defRPr>
            </a:pPr>
            <a:r>
              <a:t>✓  File I/O for</a:t>
            </a:r>
            <a:br/>
            <a:r>
              <a:t>Spreadsheets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5669280"/>
            <a:ext cx="201168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ADE80"/>
                </a:solidFill>
                <a:latin typeface="Calibri"/>
              </a:defRPr>
            </a:pPr>
            <a:r>
              <a:t>✓  Web Search</a:t>
            </a:r>
            <a:br/>
            <a:r>
              <a:t>&amp; Fetch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5669280"/>
            <a:ext cx="201168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BBF24"/>
                </a:solidFill>
                <a:latin typeface="Calibri"/>
              </a:defRPr>
            </a:pPr>
            <a:r>
              <a:t>⚠  Discord</a:t>
            </a:r>
            <a:br/>
            <a:r>
              <a:t>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5669280"/>
            <a:ext cx="201168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ADE80"/>
                </a:solidFill>
                <a:latin typeface="Calibri"/>
              </a:defRPr>
            </a:pPr>
            <a:r>
              <a:t>✓  Cron / Scheduled</a:t>
            </a:r>
            <a:br/>
            <a:r>
              <a:t>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DEVELOPMENT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From Prototype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PHASE 1  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645920"/>
            <a:ext cx="18288" cy="73152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6F0"/>
                </a:solidFill>
                <a:latin typeface="Calibri"/>
              </a:defRPr>
            </a:pPr>
            <a:r>
              <a:t>Core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965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SENTRY framework deployed. Identity, personality, memory configured. Crisis triage + OSINT + cyber hygiene operational. Heartbeat system online.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PHASE 1 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651760"/>
            <a:ext cx="18288" cy="73152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6F0"/>
                </a:solidFill>
                <a:latin typeface="Calibri"/>
              </a:defRPr>
            </a:pPr>
            <a:r>
              <a:t>Breach Monitoring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971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HIBP integration designed. Watchlist system, alert pipeline, priority matrix documented. Ready for API key activation.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PHASE 2  ← 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657600"/>
            <a:ext cx="18288" cy="7315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6F0"/>
                </a:solidFill>
                <a:latin typeface="Calibri"/>
              </a:defRPr>
            </a:pPr>
            <a:r>
              <a:t>Project Management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7763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Spreadsheet integration for tracking. To-do system with priority triage. Logistics/purchase tracking. Presentation deck for DSTA.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663440"/>
            <a:ext cx="18288" cy="7315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6F0"/>
                </a:solidFill>
                <a:latin typeface="Calibri"/>
              </a:defRPr>
            </a:pPr>
            <a:r>
              <a:t>Web Dashboard &amp; Multi-User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98347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React/Next.js frontend for SENTRY. Multi-user access. Visual readiness scoring. Exec committee overview dashboard.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5669280"/>
            <a:ext cx="18288" cy="7315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6F0"/>
                </a:solidFill>
                <a:latin typeface="Calibri"/>
              </a:defRPr>
            </a:pPr>
            <a:r>
              <a:t>Full Production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989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Discord integration live. All channels connected. Automated alerts. Real-time dashboard. DSTA-ready pitch package.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STAKEHOLDER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This Fits DSTA 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1737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0E6F0"/>
                </a:solidFill>
                <a:latin typeface="Calibri"/>
              </a:defRPr>
            </a:pPr>
            <a:r>
              <a:t>🎯  Problem Fit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DSTA manages large-scale defence tech projects with multiple stakeholders, committees, and supply chains. Information overload is a known pain 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11680"/>
            <a:ext cx="5303520" cy="1737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0E6F0"/>
                </a:solidFill>
                <a:latin typeface="Calibri"/>
              </a:defRPr>
            </a:pPr>
            <a:r>
              <a:t>🔐  Security-First Design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No data exfiltration. Source-tiering built in. Confidence markers for every assessment. Hannah is sole principal with override authority.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303520" cy="1737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0E6F0"/>
                </a:solidFill>
                <a:latin typeface="Calibri"/>
              </a:defRPr>
            </a:pPr>
            <a:r>
              <a:t>📈  Scalable for Committees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From individual to full executive committee overview. Task delegation, status tracking, and priority escalation built 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023360"/>
            <a:ext cx="5303520" cy="1737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0E6F0"/>
                </a:solidFill>
                <a:latin typeface="Calibri"/>
              </a:defRPr>
            </a:pPr>
            <a:r>
              <a:t>🤖  AI-Native, Human-Led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AI does the filtering, sorting, flagging. Humans make the decisions. The Claw makes you faster — it doesn't replace judgment.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51560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E0E6F0"/>
                </a:solidFill>
                <a:latin typeface="Calibri"/>
              </a:defRPr>
            </a:pPr>
            <a:r>
              <a:t>Bottom line: A defence/security Claw that ingests project chaos, compresses it into actionable intelligence, tracks what matters, flags what is urgent, checks what is missing, and updates the team — all through a single conversational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PURPOSE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We Need This 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The Claw exists to solve a specific operational problem — and delivers measurable benefits to every stakeholder in the project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38328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0E6F0"/>
                </a:solidFill>
                <a:latin typeface="Calibri"/>
              </a:defRPr>
            </a:pPr>
            <a:r>
              <a:t>🎯  For Project Leads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Real-time visibility into project status, task progress, and bottlenecks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No more digging through chat logs to find the one critical update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Know exactly what's urgent and what can wait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2377440"/>
            <a:ext cx="338328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0E6F0"/>
                </a:solidFill>
                <a:latin typeface="Calibri"/>
              </a:defRPr>
            </a:pPr>
            <a:r>
              <a:t>🏛️  For Executive Committees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Compressed, accurate briefs instead of noisy information dumps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Confidence-marked assessments (not AI guessing as fact)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Escalation path for truly critical 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377440"/>
            <a:ext cx="338328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0E6F0"/>
                </a:solidFill>
                <a:latin typeface="Calibri"/>
              </a:defRPr>
            </a:pPr>
            <a:r>
              <a:t>🛡️  For Defence &amp; Security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Breach monitoring and cyber hygiene integrated into daily ops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Misinformation / fact-check capability for decision confidence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OPSEC-aware — no data exfiltration, principal-controlled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Three core outcomes: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6126480"/>
            <a:ext cx="274320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Calibri"/>
              </a:defRPr>
            </a:pPr>
            <a:r>
              <a:t>⚡  FASTER DECISIONS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Information compressed into actionable briefs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6126480"/>
            <a:ext cx="274320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Calibri"/>
              </a:defRPr>
            </a:pPr>
            <a:r>
              <a:t>🎯  FEWER SURPRISES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Urgent items surfaced before they become crises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6126480"/>
            <a:ext cx="274320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Calibri"/>
              </a:defRPr>
            </a:pPr>
            <a:r>
              <a:t>📊  BETTER OVERSIGHT</a:t>
            </a:r>
          </a:p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One interface for status, tasks, logistics,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