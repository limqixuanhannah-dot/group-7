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◆  SENTRY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DEFENCE &amp; SECURITY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SENTRY — Crisis Information Triage</a:t>
            </a:r>
            <a:br/>
            <a:r>
              <a:t>&amp; Ops-Readiness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An AI-powered ops assistant that ingests project chatter, triages information,</a:t>
            </a:r>
            <a:br/>
            <a:r>
              <a:t>tracks tasks, monitors threats, checks logistics, and surfaces what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9 CAPABILITY DOMAINS  |  12+ OPERATIONAL SYSTEMS  |  HOURLY THREAT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PROBLEM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 It Solves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Large projects generate massive cross-channel information flow. Teams and committees struggle to maintain situational awareness.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515600" cy="7315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i="1">
                <a:solidFill>
                  <a:srgbClr val="E0E6F0"/>
                </a:solidFill>
                <a:latin typeface="Calibri"/>
              </a:defRPr>
            </a:pPr>
            <a:r>
              <a:t>"How to make updates, new information, and tasks easier to overview for members and committees of large projects?"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383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0E6F0"/>
                </a:solidFill>
                <a:latin typeface="Calibri"/>
              </a:defRPr>
            </a:pPr>
            <a:r>
              <a:t>✂️  Summarise &amp; Filter</a:t>
            </a:r>
          </a:p>
          <a:p>
            <a:pPr>
              <a:spcBef>
                <a:spcPts val="8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Compress noisy information streams</a:t>
            </a:r>
            <a:br/>
            <a:r>
              <a:t>into actionable briefs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3200400"/>
            <a:ext cx="3383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0E6F0"/>
                </a:solidFill>
                <a:latin typeface="Calibri"/>
              </a:defRPr>
            </a:pPr>
            <a:r>
              <a:t>🚩  Flag Priorities</a:t>
            </a:r>
          </a:p>
          <a:p>
            <a:pPr>
              <a:spcBef>
                <a:spcPts val="8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Identify urgency, priority, risk —</a:t>
            </a:r>
            <a:br/>
            <a:r>
              <a:t>CRITICAL → HIGH → MEDIUM → 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200400"/>
            <a:ext cx="338328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0E6F0"/>
                </a:solidFill>
                <a:latin typeface="Calibri"/>
              </a:defRPr>
            </a:pPr>
            <a:r>
              <a:t>📋  Track Everything</a:t>
            </a:r>
          </a:p>
          <a:p>
            <a:pPr>
              <a:spcBef>
                <a:spcPts val="8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Tasks, logistics, compliance,</a:t>
            </a:r>
            <a:br/>
            <a:r>
              <a:t>assets, decisions, threats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303520"/>
            <a:ext cx="219456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24/7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64748B"/>
                </a:solidFill>
                <a:latin typeface="Calibri"/>
              </a:defRPr>
            </a:pPr>
            <a:r>
              <a:t>Ops Availability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5303520"/>
            <a:ext cx="219456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9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64748B"/>
                </a:solidFill>
                <a:latin typeface="Calibri"/>
              </a:defRPr>
            </a:pPr>
            <a:r>
              <a:t>Capability Domains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5303520"/>
            <a:ext cx="219456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12+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64748B"/>
                </a:solidFill>
                <a:latin typeface="Calibri"/>
              </a:defRPr>
            </a:pPr>
            <a:r>
              <a:t>Systems Deployed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59" y="5303520"/>
            <a:ext cx="219456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Hourly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64748B"/>
                </a:solidFill>
                <a:latin typeface="Calibri"/>
              </a:defRPr>
            </a:pPr>
            <a:r>
              <a:t>Threat Scanning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ALL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9 Capability Domains — Fully Integrated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103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6F0"/>
                </a:solidFill>
                <a:latin typeface="Calibri"/>
              </a:defRPr>
            </a:pPr>
            <a:r>
              <a:t>🛡️  Cyber Hygiene</a:t>
            </a:r>
            <a:br/>
            <a:r>
              <a:t>&amp; Breach Monitoring</a:t>
            </a:r>
          </a:p>
          <a:p>
            <a:pPr>
              <a:spcBef>
                <a:spcPts val="4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HIBP integration · Watchlist</a:t>
            </a:r>
            <a:br/>
            <a:r>
              <a:t>· Real-time alerts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011680"/>
            <a:ext cx="2103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6F0"/>
                </a:solidFill>
                <a:latin typeface="Calibri"/>
              </a:defRPr>
            </a:pPr>
            <a:r>
              <a:t>🚨  Crisis Triage</a:t>
            </a:r>
          </a:p>
          <a:p>
            <a:pPr>
              <a:spcBef>
                <a:spcPts val="4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Incident playbooks</a:t>
            </a:r>
            <a:br/>
            <a:r>
              <a:t>· KNOW-DECIDE-ACT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2011680"/>
            <a:ext cx="2103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6F0"/>
                </a:solidFill>
                <a:latin typeface="Calibri"/>
              </a:defRPr>
            </a:pPr>
            <a:r>
              <a:t>🔎  Misinformation</a:t>
            </a:r>
            <a:br/>
            <a:r>
              <a:t>&amp; Fact Check</a:t>
            </a:r>
          </a:p>
          <a:p>
            <a:pPr>
              <a:spcBef>
                <a:spcPts val="4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Source tiering</a:t>
            </a:r>
            <a:br/>
            <a:r>
              <a:t>· Confidence markers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2011680"/>
            <a:ext cx="2103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6F0"/>
                </a:solidFill>
                <a:latin typeface="Calibri"/>
              </a:defRPr>
            </a:pPr>
            <a:r>
              <a:t>🌐  OSINT &amp; Geopolitical</a:t>
            </a:r>
            <a:br/>
            <a:r>
              <a:t>Analysis</a:t>
            </a:r>
          </a:p>
          <a:p>
            <a:pPr>
              <a:spcBef>
                <a:spcPts val="4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Situation briefs</a:t>
            </a:r>
            <a:br/>
            <a:r>
              <a:t>· Threat actor profiles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2011680"/>
            <a:ext cx="2103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6F0"/>
                </a:solidFill>
                <a:latin typeface="Calibri"/>
              </a:defRPr>
            </a:pPr>
            <a:r>
              <a:t>⚡  Ops Readiness</a:t>
            </a:r>
            <a:br/>
            <a:r>
              <a:t>&amp; Task Tracking</a:t>
            </a:r>
          </a:p>
          <a:p>
            <a:pPr>
              <a:spcBef>
                <a:spcPts val="4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Preparedness scoring</a:t>
            </a:r>
            <a:br/>
            <a:r>
              <a:t>· Priority triage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3840480"/>
            <a:ext cx="2103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6F0"/>
                </a:solidFill>
                <a:latin typeface="Calibri"/>
              </a:defRPr>
            </a:pPr>
            <a:r>
              <a:t>📜  Security &amp;</a:t>
            </a:r>
            <a:br/>
            <a:r>
              <a:t>Compliance</a:t>
            </a:r>
          </a:p>
          <a:p>
            <a:pPr>
              <a:spcBef>
                <a:spcPts val="4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Classification tagging</a:t>
            </a:r>
            <a:br/>
            <a:r>
              <a:t>· Deadline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3840480"/>
            <a:ext cx="2103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6F0"/>
                </a:solidFill>
                <a:latin typeface="Calibri"/>
              </a:defRPr>
            </a:pPr>
            <a:r>
              <a:t>🚨  Incident Response</a:t>
            </a:r>
            <a:br/>
            <a:r>
              <a:t>Drills &amp; Templates</a:t>
            </a:r>
          </a:p>
          <a:p>
            <a:pPr>
              <a:spcBef>
                <a:spcPts val="4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Tabletop scheduling</a:t>
            </a:r>
            <a:br/>
            <a:r>
              <a:t>· Crisis comms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840480"/>
            <a:ext cx="2103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6F0"/>
                </a:solidFill>
                <a:latin typeface="Calibri"/>
              </a:defRPr>
            </a:pPr>
            <a:r>
              <a:t>🧠  Project</a:t>
            </a:r>
            <a:br/>
            <a:r>
              <a:t>Intelligence</a:t>
            </a:r>
          </a:p>
          <a:p>
            <a:pPr>
              <a:spcBef>
                <a:spcPts val="4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Risk scoring · Threat</a:t>
            </a:r>
            <a:br/>
            <a:r>
              <a:t>briefings · Vuln triage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3840480"/>
            <a:ext cx="2103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0E6F0"/>
                </a:solidFill>
                <a:latin typeface="Calibri"/>
              </a:defRPr>
            </a:pPr>
            <a:r>
              <a:t>📦  Asset &amp;</a:t>
            </a:r>
            <a:br/>
            <a:r>
              <a:t>Governance</a:t>
            </a:r>
          </a:p>
          <a:p>
            <a:pPr>
              <a:spcBef>
                <a:spcPts val="4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Asset registry · Decision</a:t>
            </a:r>
            <a:br/>
            <a:r>
              <a:t>log · Action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Calibri"/>
              </a:defRPr>
            </a:pPr>
            <a:r>
              <a:t>CORE (Phase 1)                                                                                    EXPANDED (Phase 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INTELLIGENCE &amp;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Threat Monitoring &amp; Project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Automated hourly cycles: breach detection + cyber intelligence + project-specific research.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24688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⏰ Every Hour</a:t>
            </a:r>
            <a:br/>
            <a:r>
              <a:t>Cron Trigger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103120"/>
            <a:ext cx="24688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🔍 Breach</a:t>
            </a:r>
            <a:br/>
            <a:r>
              <a:t>Check (HIBP)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24688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📰 Intel</a:t>
            </a:r>
            <a:br/>
            <a:r>
              <a:t>Roundup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2103120"/>
            <a:ext cx="246888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  <a:latin typeface="Calibri"/>
              </a:defRPr>
            </a:pPr>
            <a:r>
              <a:t>📡 Formatted</a:t>
            </a:r>
            <a:br/>
            <a:r>
              <a:t>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KEY BREACHES &amp; THREATS (JUNE 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47472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Canvas/Instructure — 275M users — 3.65 TB — education sector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4114800"/>
            <a:ext cx="347472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Kodak — 2.2M records — ShinyHunters ransomware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114800"/>
            <a:ext cx="347472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Miasma Worm — Supply chain — PyPI, npm, GitHub 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347472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Mastra AI npm — 1.1M weekly downloads — malicious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4754880"/>
            <a:ext cx="347472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FortiSandbox — 3 critical flaws — actively exploited (CISA)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754880"/>
            <a:ext cx="3474720" cy="502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ShinyHunters Vishing — 100+ orgs — MFA bypass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51560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6B6D4"/>
                </a:solidFill>
                <a:latin typeface="Calibri"/>
              </a:defRPr>
            </a:pPr>
            <a:r>
              <a:t>Active projects researched hourly: health &amp; wellness (fishkeeping) · productivity tools (Workspace) — new findings appended automatically per project.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OPERATIONAL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Current System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5603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E6F0"/>
                </a:solidFill>
                <a:latin typeface="Calibri"/>
              </a:defRPr>
            </a:pPr>
            <a:r>
              <a:t>✅  Dashboard</a:t>
            </a:r>
          </a:p>
          <a:p>
            <a:pPr>
              <a:spcBef>
                <a:spcPts val="400"/>
              </a:spcBef>
              <a:defRPr sz="1000" b="0">
                <a:solidFill>
                  <a:srgbClr val="4ADE80"/>
                </a:solidFill>
                <a:latin typeface="Calibri"/>
              </a:defRPr>
            </a:pPr>
            <a:r>
              <a:t>Operational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011680"/>
            <a:ext cx="25603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E6F0"/>
                </a:solidFill>
                <a:latin typeface="Calibri"/>
              </a:defRPr>
            </a:pPr>
            <a:r>
              <a:t>✅  Heartbeat System</a:t>
            </a:r>
          </a:p>
          <a:p>
            <a:pPr>
              <a:spcBef>
                <a:spcPts val="400"/>
              </a:spcBef>
              <a:defRPr sz="1000" b="0">
                <a:solidFill>
                  <a:srgbClr val="4ADE80"/>
                </a:solidFill>
                <a:latin typeface="Calibri"/>
              </a:defRPr>
            </a:pPr>
            <a:r>
              <a:t>Online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25603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E6F0"/>
                </a:solidFill>
                <a:latin typeface="Calibri"/>
              </a:defRPr>
            </a:pPr>
            <a:r>
              <a:t>✅  SENTRY Framework</a:t>
            </a:r>
          </a:p>
          <a:p>
            <a:pPr>
              <a:spcBef>
                <a:spcPts val="400"/>
              </a:spcBef>
              <a:defRPr sz="1000" b="0">
                <a:solidFill>
                  <a:srgbClr val="4ADE80"/>
                </a:solidFill>
                <a:latin typeface="Calibri"/>
              </a:defRPr>
            </a:pPr>
            <a:r>
              <a:t>Deployed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011680"/>
            <a:ext cx="25603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E6F0"/>
                </a:solidFill>
                <a:latin typeface="Calibri"/>
              </a:defRPr>
            </a:pPr>
            <a:r>
              <a:t>✅  Breach Monitoring</a:t>
            </a:r>
          </a:p>
          <a:p>
            <a:pPr>
              <a:spcBef>
                <a:spcPts val="400"/>
              </a:spcBef>
              <a:defRPr sz="1000" b="0">
                <a:solidFill>
                  <a:srgbClr val="4ADE80"/>
                </a:solidFill>
                <a:latin typeface="Calibri"/>
              </a:defRPr>
            </a:pPr>
            <a:r>
              <a:t>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25603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E6F0"/>
                </a:solidFill>
                <a:latin typeface="Calibri"/>
              </a:defRPr>
            </a:pPr>
            <a:r>
              <a:t>✅  Project Research</a:t>
            </a:r>
          </a:p>
          <a:p>
            <a:pPr>
              <a:spcBef>
                <a:spcPts val="400"/>
              </a:spcBef>
              <a:defRPr sz="1000" b="0">
                <a:solidFill>
                  <a:srgbClr val="4ADE80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3200400"/>
            <a:ext cx="25603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E6F0"/>
                </a:solidFill>
                <a:latin typeface="Calibri"/>
              </a:defRPr>
            </a:pPr>
            <a:r>
              <a:t>⚠️  Discord Delivery</a:t>
            </a:r>
          </a:p>
          <a:p>
            <a:pPr>
              <a:spcBef>
                <a:spcPts val="400"/>
              </a:spcBef>
              <a:defRPr sz="1000" b="0">
                <a:solidFill>
                  <a:srgbClr val="F59E0B"/>
                </a:solidFill>
                <a:latin typeface="Calibri"/>
              </a:defRPr>
            </a:pPr>
            <a:r>
              <a:t>Needs Token Renewal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00400"/>
            <a:ext cx="25603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E6F0"/>
                </a:solidFill>
                <a:latin typeface="Calibri"/>
              </a:defRPr>
            </a:pPr>
            <a:r>
              <a:t>⚠️  Excel / Sheet Link</a:t>
            </a:r>
          </a:p>
          <a:p>
            <a:pPr>
              <a:spcBef>
                <a:spcPts val="400"/>
              </a:spcBef>
              <a:defRPr sz="1000" b="0">
                <a:solidFill>
                  <a:srgbClr val="F59E0B"/>
                </a:solidFill>
                <a:latin typeface="Calibri"/>
              </a:defRPr>
            </a:pPr>
            <a:r>
              <a:t>Pending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3200400"/>
            <a:ext cx="256032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0E6F0"/>
                </a:solidFill>
                <a:latin typeface="Calibri"/>
              </a:defRPr>
            </a:pPr>
            <a:r>
              <a:t>⚠️  Monitoring Targets</a:t>
            </a:r>
          </a:p>
          <a:p>
            <a:pPr>
              <a:spcBef>
                <a:spcPts val="400"/>
              </a:spcBef>
              <a:defRPr sz="1000" b="0">
                <a:solidFill>
                  <a:srgbClr val="F59E0B"/>
                </a:solidFill>
                <a:latin typeface="Calibri"/>
              </a:defRPr>
            </a:pPr>
            <a:r>
              <a:t>Not Configured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PENDING 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937760"/>
            <a:ext cx="5029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CRITICAL  —  Configure monitoring targets (domains/emails)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937760"/>
            <a:ext cx="5029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CRITICAL  —  Renew Discord bot token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5029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HIGH  —  Link project spreadsheet for read/write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5486400"/>
            <a:ext cx="5029200" cy="4114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MEDIUM  —  Set up cron for automated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0E6F0"/>
                </a:solidFill>
                <a:latin typeface="Calibri"/>
              </a:defRPr>
            </a:pPr>
            <a:r>
              <a:t>🧠  AI Core</a:t>
            </a:r>
          </a:p>
          <a:p>
            <a:pPr>
              <a:spcBef>
                <a:spcPts val="8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DeepSeek V4 reasoning · Sub-agent orchestration</a:t>
            </a:r>
            <a:br/>
            <a:r>
              <a:t>Memory continuity across sessions · Tool-calling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53035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0E6F0"/>
                </a:solidFill>
                <a:latin typeface="Calibri"/>
              </a:defRPr>
            </a:pPr>
            <a:r>
              <a:t>🔧  Tool Layer</a:t>
            </a:r>
          </a:p>
          <a:p>
            <a:pPr>
              <a:spcBef>
                <a:spcPts val="8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File I/O for spreadsheets · Web search/fetch</a:t>
            </a:r>
            <a:br/>
            <a:r>
              <a:t>Cron scheduling · Parallel session delegation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3035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0E6F0"/>
                </a:solidFill>
                <a:latin typeface="Calibri"/>
              </a:defRPr>
            </a:pPr>
            <a:r>
              <a:t>📡  Communications</a:t>
            </a:r>
          </a:p>
          <a:p>
            <a:pPr>
              <a:spcBef>
                <a:spcPts val="8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WebChat direct · Discord (pending token)</a:t>
            </a:r>
            <a:br/>
            <a:r>
              <a:t>Web dashboard · Multi-surface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023360"/>
            <a:ext cx="530352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0E6F0"/>
                </a:solidFill>
                <a:latin typeface="Calibri"/>
              </a:defRPr>
            </a:pPr>
            <a:r>
              <a:t>🗄️  Data Layer</a:t>
            </a:r>
          </a:p>
          <a:p>
            <a:pPr>
              <a:spcBef>
                <a:spcPts val="800"/>
              </a:spcBef>
              <a:defRPr sz="1200" b="0">
                <a:solidFill>
                  <a:srgbClr val="94A3B8"/>
                </a:solidFill>
                <a:latin typeface="Calibri"/>
              </a:defRPr>
            </a:pPr>
            <a:r>
              <a:t>Workspace storage · Daily + curated memory</a:t>
            </a:r>
            <a:br/>
            <a:r>
              <a:t>CSV/Sheet tracking · SENTRY doctrine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20116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ADE80"/>
                </a:solidFill>
                <a:latin typeface="Calibri"/>
              </a:defRPr>
            </a:pPr>
            <a:r>
              <a:t>✓  Multi-Session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5760720"/>
            <a:ext cx="20116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ADE80"/>
                </a:solidFill>
                <a:latin typeface="Calibri"/>
              </a:defRPr>
            </a:pPr>
            <a:r>
              <a:t>✓  File I/O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5760720"/>
            <a:ext cx="20116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ADE80"/>
                </a:solidFill>
                <a:latin typeface="Calibri"/>
              </a:defRPr>
            </a:pPr>
            <a:r>
              <a:t>✓  Web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5760720"/>
            <a:ext cx="20116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⚠  Discord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5760720"/>
            <a:ext cx="20116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ADE80"/>
                </a:solidFill>
                <a:latin typeface="Calibri"/>
              </a:defRPr>
            </a:pPr>
            <a:r>
              <a:t>✓  Cron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SYSTEMS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12 Operational Systems — CLI Accessible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Classification Tagging (RESTRICTED / CONFIDENTIAL / SECRET)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Compliance Deadline Tracker (auto-detect overdue)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Vendor Security Posture Tracker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OPS &amp; INCIDENT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IR Drill Scheduling &amp; Scoring (tabletop / full-scale)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1187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Crisis Communications Templates (breach/outage/disruption)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Calibri"/>
              </a:defRPr>
            </a:pPr>
            <a:r>
              <a:t>PROJECT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Risk Scoring Dashboard (4 dimensions, composite score)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8347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Threat Landscape Briefings (per-project correlation)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Vulnerability Disclosure Triage (PENDING → PATCHED)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LOGISTICS &amp;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035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Hardware / Software Asset Registry (expiry, ownership)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35507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Secure File Transfer Log (CREATE / ACCESS / SHARE)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675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Action Item Tracker + Decision Log (timestamped audit trail)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126480"/>
            <a:ext cx="1051560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B82F6"/>
                </a:solidFill>
                <a:latin typeface="Calibri"/>
              </a:defRPr>
            </a:pPr>
            <a:r>
              <a:t>All systems accessible via CLI scripts in scripts/ directory · Cron-ready for automated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PURPOSE &amp;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Why This System Exists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640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E0E6F0"/>
                </a:solidFill>
                <a:latin typeface="Calibri"/>
              </a:defRPr>
            </a:pPr>
            <a:r>
              <a:t>An integrated ops assistant that ingests project chaos, compresses it into actionable intelligence, tracks what matters, flags what is urgent, monitors cyber threats, and updates the team — through a single conversational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3383280" cy="2743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0E6F0"/>
                </a:solidFill>
                <a:latin typeface="Calibri"/>
              </a:defRPr>
            </a:pPr>
            <a:r>
              <a:t>🎯  For Project Teams</a:t>
            </a:r>
          </a:p>
          <a:p>
            <a:pPr>
              <a:spcBef>
                <a:spcPts val="6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Real-time visibility into status and bottlenecks</a:t>
            </a:r>
          </a:p>
          <a:p>
            <a:pPr>
              <a:spcBef>
                <a:spcPts val="6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No more digging through chat for critical updates</a:t>
            </a:r>
          </a:p>
          <a:p>
            <a:pPr>
              <a:spcBef>
                <a:spcPts val="6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Know what is urgent and what can wait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2468880"/>
            <a:ext cx="3383280" cy="2743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0E6F0"/>
                </a:solidFill>
                <a:latin typeface="Calibri"/>
              </a:defRPr>
            </a:pPr>
            <a:r>
              <a:t>🏛️  For Committees</a:t>
            </a:r>
          </a:p>
          <a:p>
            <a:pPr>
              <a:spcBef>
                <a:spcPts val="6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Compressed, accurate briefs over noisy dumps</a:t>
            </a:r>
          </a:p>
          <a:p>
            <a:pPr>
              <a:spcBef>
                <a:spcPts val="6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Confidence-marked assessments, not guessing</a:t>
            </a:r>
          </a:p>
          <a:p>
            <a:pPr>
              <a:spcBef>
                <a:spcPts val="6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Clear escalation path for critical 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468880"/>
            <a:ext cx="3383280" cy="2743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0E6F0"/>
                </a:solidFill>
                <a:latin typeface="Calibri"/>
              </a:defRPr>
            </a:pPr>
            <a:r>
              <a:t>🛡️  For Security Ops</a:t>
            </a:r>
          </a:p>
          <a:p>
            <a:pPr>
              <a:spcBef>
                <a:spcPts val="6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Automated breach detection and cyber hygiene</a:t>
            </a:r>
          </a:p>
          <a:p>
            <a:pPr>
              <a:spcBef>
                <a:spcPts val="6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Source-trusted fact-checking for intelligence</a:t>
            </a:r>
          </a:p>
          <a:p>
            <a:pPr>
              <a:spcBef>
                <a:spcPts val="600"/>
              </a:spcBef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OPSEC-controlled — no data exfiltration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B6D4"/>
                </a:solidFill>
                <a:latin typeface="Calibri"/>
              </a:defRPr>
            </a:pPr>
            <a:r>
              <a:t>Three core outcomes:  FASTER DECISIONS  ·  FEWER SURPRISES  ·  BETTER OVERSIGHT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852160"/>
            <a:ext cx="1051560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6B6D4"/>
                </a:solidFill>
                <a:latin typeface="Calibri"/>
              </a:defRPr>
            </a:pPr>
            <a:r>
              <a:t>Security-first design · AI filters, humans decide · Scalable from teams to executive committees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